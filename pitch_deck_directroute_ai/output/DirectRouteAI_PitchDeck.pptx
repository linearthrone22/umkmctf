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14ecaca0b4978" /><Relationship Type="http://schemas.openxmlformats.org/officeDocument/2006/relationships/extended-properties" Target="/docProps/app.xml" Id="Ra16d6d61fe5b4ecb" /><Relationship Type="http://schemas.openxmlformats.org/officeDocument/2006/relationships/officeDocument" Target="/ppt/presentation.xml" Id="Rc991dec90092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6010e35994836"/>
  </p:sldMasterIdLst>
  <p:notesMasterIdLst>
    <p:notesMasterId xmlns:r="http://schemas.openxmlformats.org/officeDocument/2006/relationships" r:id="Rb624d83b2b264bdf"/>
  </p:notesMasterIdLst>
  <p:sldIdLst>
    <p:sldId xmlns:r="http://schemas.openxmlformats.org/officeDocument/2006/relationships" id="256" r:id="Re6b6712e05454027"/>
    <p:sldId xmlns:r="http://schemas.openxmlformats.org/officeDocument/2006/relationships" id="257" r:id="Rc10759e4ff8245c6"/>
    <p:sldId xmlns:r="http://schemas.openxmlformats.org/officeDocument/2006/relationships" id="258" r:id="R0f6c0753d13f4f7d"/>
    <p:sldId xmlns:r="http://schemas.openxmlformats.org/officeDocument/2006/relationships" id="259" r:id="R3b56c500e8dd410f"/>
    <p:sldId xmlns:r="http://schemas.openxmlformats.org/officeDocument/2006/relationships" id="260" r:id="Reb36ba06a7474296"/>
    <p:sldId xmlns:r="http://schemas.openxmlformats.org/officeDocument/2006/relationships" id="261" r:id="Rbe665498b7cd437c"/>
    <p:sldId xmlns:r="http://schemas.openxmlformats.org/officeDocument/2006/relationships" id="262" r:id="R21d3ccb6a59e413c"/>
    <p:sldId xmlns:r="http://schemas.openxmlformats.org/officeDocument/2006/relationships" id="263" r:id="R720a0c5ac1ab449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6010e35994836" /><Relationship Type="http://schemas.openxmlformats.org/officeDocument/2006/relationships/theme" Target="/ppt/theme/theme1.xml" Id="Rfc2e11cfb5ce4c14" /><Relationship Type="http://schemas.openxmlformats.org/officeDocument/2006/relationships/notesMaster" Target="/ppt/notesMasters/notesMaster1.xml" Id="Rb624d83b2b264bdf" /><Relationship Type="http://schemas.openxmlformats.org/officeDocument/2006/relationships/presProps" Target="/ppt/presProps.xml" Id="R54431675bf9448c4" /><Relationship Type="http://schemas.openxmlformats.org/officeDocument/2006/relationships/viewProps" Target="/ppt/viewProps.xml" Id="R95f777bb4c324586" /><Relationship Type="http://schemas.openxmlformats.org/officeDocument/2006/relationships/tableStyles" Target="/ppt/tableStyles.xml" Id="R0848e17d13a64c9c" /><Relationship Type="http://schemas.openxmlformats.org/officeDocument/2006/relationships/slide" Target="/ppt/slides/slide1.xml" Id="Re6b6712e05454027" /><Relationship Type="http://schemas.openxmlformats.org/officeDocument/2006/relationships/slide" Target="/ppt/slides/slide2.xml" Id="Rc10759e4ff8245c6" /><Relationship Type="http://schemas.openxmlformats.org/officeDocument/2006/relationships/slide" Target="/ppt/slides/slide3.xml" Id="R0f6c0753d13f4f7d" /><Relationship Type="http://schemas.openxmlformats.org/officeDocument/2006/relationships/slide" Target="/ppt/slides/slide4.xml" Id="R3b56c500e8dd410f" /><Relationship Type="http://schemas.openxmlformats.org/officeDocument/2006/relationships/slide" Target="/ppt/slides/slide5.xml" Id="Reb36ba06a7474296" /><Relationship Type="http://schemas.openxmlformats.org/officeDocument/2006/relationships/slide" Target="/ppt/slides/slide6.xml" Id="Rbe665498b7cd437c" /><Relationship Type="http://schemas.openxmlformats.org/officeDocument/2006/relationships/slide" Target="/ppt/slides/slide7.xml" Id="R21d3ccb6a59e413c" /><Relationship Type="http://schemas.openxmlformats.org/officeDocument/2006/relationships/slide" Target="/ppt/slides/slide8.xml" Id="R720a0c5ac1ab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3ccfe1e5274d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2b26a70bf4137" /><Relationship Type="http://schemas.openxmlformats.org/officeDocument/2006/relationships/notesMaster" Target="/ppt/notesMasters/notesMaster1.xml" Id="R48fd613d6aa448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bf7b4ad8b46b6" /><Relationship Type="http://schemas.openxmlformats.org/officeDocument/2006/relationships/notesMaster" Target="/ppt/notesMasters/notesMaster1.xml" Id="R03f17fc77b1540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ee986f47c4904" /><Relationship Type="http://schemas.openxmlformats.org/officeDocument/2006/relationships/notesMaster" Target="/ppt/notesMasters/notesMaster1.xml" Id="R233663dc024849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d6d57e0114d17" /><Relationship Type="http://schemas.openxmlformats.org/officeDocument/2006/relationships/notesMaster" Target="/ppt/notesMasters/notesMaster1.xml" Id="R0d6efd4dd5c04d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8b3c18a164e9d" /><Relationship Type="http://schemas.openxmlformats.org/officeDocument/2006/relationships/notesMaster" Target="/ppt/notesMasters/notesMaster1.xml" Id="Rc4367863f91d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cbbaa39904054" /><Relationship Type="http://schemas.openxmlformats.org/officeDocument/2006/relationships/notesMaster" Target="/ppt/notesMasters/notesMaster1.xml" Id="Reec0d9159363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2ab5ac3384d34" /><Relationship Type="http://schemas.openxmlformats.org/officeDocument/2006/relationships/notesMaster" Target="/ppt/notesMasters/notesMaster1.xml" Id="Rbcd515a8de404d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0502c1177142d1" /><Relationship Type="http://schemas.openxmlformats.org/officeDocument/2006/relationships/notesMaster" Target="/ppt/notesMasters/notesMaster1.xml" Id="R3f661b76e48b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5c79bb76249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ef3a17ad4849b3" /><Relationship Type="http://schemas.openxmlformats.org/officeDocument/2006/relationships/slideLayout" Target="/ppt/slideLayouts/slideLayout2.xml" Id="R4399ee108d74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9ee108d74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87f7cd50624f82" /><Relationship Type="http://schemas.openxmlformats.org/officeDocument/2006/relationships/notesSlide" Target="/ppt/notesSlides/notesSlide1.xml" Id="R59e58e1141a9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ae90a06cd74635" /><Relationship Type="http://schemas.openxmlformats.org/officeDocument/2006/relationships/notesSlide" Target="/ppt/notesSlides/notesSlide2.xml" Id="R42fc4820124d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30a44377247b8" /><Relationship Type="http://schemas.openxmlformats.org/officeDocument/2006/relationships/notesSlide" Target="/ppt/notesSlides/notesSlide3.xml" Id="R221529971fd6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5305844dd4b17" /><Relationship Type="http://schemas.openxmlformats.org/officeDocument/2006/relationships/notesSlide" Target="/ppt/notesSlides/notesSlide4.xml" Id="Rc946ada8dbaf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db2fd6d8f4c22" /><Relationship Type="http://schemas.openxmlformats.org/officeDocument/2006/relationships/notesSlide" Target="/ppt/notesSlides/notesSlide5.xml" Id="R7d1efab2f6f14a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9921b8db74bba" /><Relationship Type="http://schemas.openxmlformats.org/officeDocument/2006/relationships/notesSlide" Target="/ppt/notesSlides/notesSlide6.xml" Id="Rd856bfc4f03a48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154f748524509" /><Relationship Type="http://schemas.openxmlformats.org/officeDocument/2006/relationships/notesSlide" Target="/ppt/notesSlides/notesSlide7.xml" Id="R82ab470e6bca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03f3cba04c4966" /><Relationship Type="http://schemas.openxmlformats.org/officeDocument/2006/relationships/notesSlide" Target="/ppt/notesSlides/notesSlide8.xml" Id="Rbf3d82ad7e9f4f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50C7144E-E883-443D-8881-EEE3C5E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44EAF336-7F7C-4DA9-B9B9-32BB795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D1A80734-23AC-4D38-9272-AD1D1A90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Agentic Supply Chain • UMKM">
            <a:extLst xmlns:a="http://schemas.openxmlformats.org/drawingml/2006/main">
              <a:ext uri="{FF2B5EF4-FFF2-40B4-BE49-F238E27FC236}">
                <a16:creationId xmlns:a16="http://schemas.microsoft.com/office/drawing/2014/main" id="{B884C25D-A8DD-4B6F-97D0-061322A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16459200" cy="3733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2EE9-0B2B-48AB-BE37-2041A20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1924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Agentic Supply Chain • UMKM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4A583E8-EC77-4025-8023-B6707CB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6459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CFDF5"/>
                </a:solidFill>
              </a:defRPr>
            </a:pPr>
            <a:r>
              <a:rPr sz="5850" b="1">
                <a:solidFill>
                  <a:srgbClr val="ECFDF5"/>
                </a:solidFill>
              </a:rPr>
              <a:t>DirectRoute AI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BD366DC-187C-46CD-B3F1-0A3D3EB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2401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Marketplace UMKM yang membantu seller menentukan harga pasar, rute pengiriman, dan outreach secara otomatis.</a:t>
            </a:r>
          </a:p>
        </p:txBody>
      </p:sp>
      <p:sp>
        <p:nvSpPr>
          <p:cNvPr id="8" name="value-card">
            <a:extLst xmlns:a="http://schemas.openxmlformats.org/drawingml/2006/main">
              <a:ext uri="{FF2B5EF4-FFF2-40B4-BE49-F238E27FC236}">
                <a16:creationId xmlns:a16="http://schemas.microsoft.com/office/drawing/2014/main" id="{CD23D22D-93AC-4DD3-A6FA-2C914279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8520"/>
            <a:ext cx="9601200" cy="5396865"/>
          </a:xfrm>
          <a:prstGeom xmlns:a="http://schemas.openxmlformats.org/drawingml/2006/main" prst="roundRect">
            <a:avLst>
              <a:gd name="adj" fmla="val 4942"/>
            </a:avLst>
          </a:prstGeom>
          <a:solidFill xmlns:a="http://schemas.openxmlformats.org/drawingml/2006/main">
            <a:srgbClr val="0B3A2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EEDB-B19B-4735-99E6-582F07C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895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3 nilai utama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A2062BD-A2CF-4B36-AFA8-3213801A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537C37C1-07B8-4FBE-A2F5-4E8A9DDE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Harga rekomendasi berbasis referensi tepercaya (PIHPS BI / fallback).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B173C93F-E436-49D9-880D-2C39BCA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40EBA1E7-AC8F-412A-9D78-57C72B48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Rute multi-drop → divisualisasikan jadi rute jalan asli (Google Maps).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6F9D8536-A40C-4C66-83A2-5D2596D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DC95E838-6DF9-4865-8AEB-3C68BD24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Draft penawaran WhatsApp + tips packing untuk UMKM.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E5DA9-C860-45AA-993A-351F372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792F4-75FC-41EE-BAA2-394A3CCF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E4D1"/>
                </a:solidFill>
              </a:defRPr>
            </a:pPr>
            <a:r>
              <a:rPr sz="1350">
                <a:solidFill>
                  <a:srgbClr val="B7E4D1"/>
                </a:solidFill>
              </a:rPr>
              <a:t>Target demo: 2–5 menit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2F8CA-BFE0-4F17-B780-AEE8976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678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C5336-0622-41C8-8F52-1B7A49B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011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E4D1"/>
                </a:solidFill>
              </a:defRPr>
            </a:pPr>
            <a:r>
              <a:rPr sz="1350">
                <a:solidFill>
                  <a:srgbClr val="B7E4D1"/>
                </a:solidFill>
              </a:rPr>
              <a:t>Gendigital Academy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628243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95BE6C13-3DA4-4A15-8F68-5D081A7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BF326BE0-8553-4C75-BD9C-3FC6AB2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EF0F8A21-4C99-4F37-934C-61E52C8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Masalah yang diangkat">
            <a:extLst xmlns:a="http://schemas.openxmlformats.org/drawingml/2006/main">
              <a:ext uri="{FF2B5EF4-FFF2-40B4-BE49-F238E27FC236}">
                <a16:creationId xmlns:a16="http://schemas.microsoft.com/office/drawing/2014/main" id="{B26279E5-1C57-46D1-8797-38F3019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3733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CD630-903C-43C2-8876-B9D9D5F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1304"/>
                </a:solidFill>
              </a:defRPr>
            </a:pPr>
            <a:r>
              <a:rPr sz="1200" b="1">
                <a:solidFill>
                  <a:srgbClr val="1B1304"/>
                </a:solidFill>
              </a:rPr>
              <a:t>Masalah yang diangkat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48476-A4C9-409D-88C1-A8028AD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UMKM butuh keputusan cepat: harga, logistik, dan komunikasi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C5B58-98BA-4F4A-8BE1-AF5D689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1228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Tanpa tooling, seller menghabiskan waktu untuk riset harga + mengatur pengiriman + menulis penawaran.</a:t>
            </a:r>
          </a:p>
        </p:txBody>
      </p:sp>
      <p:sp>
        <p:nvSpPr>
          <p:cNvPr id="8" name="seller">
            <a:extLst xmlns:a="http://schemas.openxmlformats.org/drawingml/2006/main">
              <a:ext uri="{FF2B5EF4-FFF2-40B4-BE49-F238E27FC236}">
                <a16:creationId xmlns:a16="http://schemas.microsoft.com/office/drawing/2014/main" id="{9EFC6730-7B13-4F8A-AFDD-A65620B5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8039100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A7328-69D5-406A-A58D-5101B17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50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6EFAC"/>
                </a:solidFill>
              </a:defRPr>
            </a:pPr>
            <a:r>
              <a:rPr sz="1950" b="1">
                <a:solidFill>
                  <a:srgbClr val="86EFAC"/>
                </a:solidFill>
              </a:rPr>
              <a:t>Pain Seller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70E5DBBE-DA45-4675-88E4-41F56A8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20297056-163E-487A-94BF-CB6220F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Harga sering “ngira-ngira” → risiko kalah saing / rugi.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8DF9E65E-D149-4DB8-8D56-12312DC6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5F74C4C1-3130-4A71-B849-F093411D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Rute multi-drop tidak optimal → biaya &amp; waktu membengkak.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F01AF398-0FB5-4E2D-81A4-82AC765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6539B2E0-31F4-4AD3-8D6F-40E28BD8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Outreach tidak konsisten → peluang buyer hilang.</a:t>
            </a:r>
          </a:p>
        </p:txBody>
      </p:sp>
      <p:sp>
        <p:nvSpPr>
          <p:cNvPr id="16" name="buyer">
            <a:extLst xmlns:a="http://schemas.openxmlformats.org/drawingml/2006/main">
              <a:ext uri="{FF2B5EF4-FFF2-40B4-BE49-F238E27FC236}">
                <a16:creationId xmlns:a16="http://schemas.microsoft.com/office/drawing/2014/main" id="{29FAE096-E04B-4CE2-9DF7-BD87582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8039100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E2D7E-5F31-4E0D-9516-4D99344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750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6EFAC"/>
                </a:solidFill>
              </a:defRPr>
            </a:pPr>
            <a:r>
              <a:rPr sz="1950" b="1">
                <a:solidFill>
                  <a:srgbClr val="86EFAC"/>
                </a:solidFill>
              </a:rPr>
              <a:t>Pain Buyer &amp; Admin</a:t>
            </a:r>
          </a:p>
        </p:txBody>
      </p:sp>
      <p:sp>
        <p:nvSpPr>
          <p:cNvPr id="18" name="dot-0">
            <a:extLst xmlns:a="http://schemas.openxmlformats.org/drawingml/2006/main">
              <a:ext uri="{FF2B5EF4-FFF2-40B4-BE49-F238E27FC236}">
                <a16:creationId xmlns:a16="http://schemas.microsoft.com/office/drawing/2014/main" id="{4A68CC5A-73FE-40DB-965B-8DC61F8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9" name="bt-0">
            <a:extLst xmlns:a="http://schemas.openxmlformats.org/drawingml/2006/main">
              <a:ext uri="{FF2B5EF4-FFF2-40B4-BE49-F238E27FC236}">
                <a16:creationId xmlns:a16="http://schemas.microsoft.com/office/drawing/2014/main" id="{F90FEA09-3BDD-4EF5-8466-E71ECE9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433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Buyer butuh flow belanja jelas: cart → checkout → status.</a:t>
            </a:r>
          </a:p>
        </p:txBody>
      </p:sp>
      <p:sp>
        <p:nvSpPr>
          <p:cNvPr id="20" name="dot-1">
            <a:extLst xmlns:a="http://schemas.openxmlformats.org/drawingml/2006/main">
              <a:ext uri="{FF2B5EF4-FFF2-40B4-BE49-F238E27FC236}">
                <a16:creationId xmlns:a16="http://schemas.microsoft.com/office/drawing/2014/main" id="{1BF7A070-8ABD-44EB-8D33-34EFE89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bt-1">
            <a:extLst xmlns:a="http://schemas.openxmlformats.org/drawingml/2006/main">
              <a:ext uri="{FF2B5EF4-FFF2-40B4-BE49-F238E27FC236}">
                <a16:creationId xmlns:a16="http://schemas.microsoft.com/office/drawing/2014/main" id="{66A5062C-E43A-4D5C-A6BD-D5BBE00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62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Admin butuh moderasi, dispute, verifikasi, audit, anomaly.</a:t>
            </a:r>
          </a:p>
        </p:txBody>
      </p:sp>
    </p:spTree>
    <p:extLst>
      <p:ext uri="{BB962C8B-B14F-4D97-AF65-F5344CB8AC3E}">
        <p14:creationId xmlns:p14="http://schemas.microsoft.com/office/powerpoint/2010/main" val="20470337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E4AB8060-8615-4099-8F6B-A9B39A8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127EE247-117B-4C43-B6CE-9FB98E18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2CF9AB92-87E4-43D2-B40D-83C4AEB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Solusi">
            <a:extLst xmlns:a="http://schemas.openxmlformats.org/drawingml/2006/main">
              <a:ext uri="{FF2B5EF4-FFF2-40B4-BE49-F238E27FC236}">
                <a16:creationId xmlns:a16="http://schemas.microsoft.com/office/drawing/2014/main" id="{AA5E93F7-2560-4397-A8B5-1C285D93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3733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2D273-8460-4445-BDC7-A4A0A10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Solusi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2E82-5165-48A9-ACEB-A5DE262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Satu platform: Marketplace + Agentic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60991-7519-4CAE-8F77-424B73C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020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AI dipakai sebagai alat untuk menghasilkan keputusan &amp; tindakan, bukan sekadar chat.</a:t>
            </a:r>
          </a:p>
        </p:txBody>
      </p:sp>
      <p:sp>
        <p:nvSpPr>
          <p:cNvPr id="8" name="agent">
            <a:extLst xmlns:a="http://schemas.openxmlformats.org/drawingml/2006/main">
              <a:ext uri="{FF2B5EF4-FFF2-40B4-BE49-F238E27FC236}">
                <a16:creationId xmlns:a16="http://schemas.microsoft.com/office/drawing/2014/main" id="{C797E9B8-56B2-4C16-AB60-FFE7052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9223058" cy="6572250"/>
          </a:xfrm>
          <a:prstGeom xmlns:a="http://schemas.openxmlformats.org/drawingml/2006/main" prst="roundRect">
            <a:avLst>
              <a:gd name="adj" fmla="val 4058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810D3-ED35-4841-B128-1AEA34D7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8648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Agentic Workflow (Seller)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C8F3608-9F2C-42B4-BBE2-DC77E594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32D24099-DCF8-4AC9-B658-77486121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840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Step 0: ambil referensi harga tepercaya (PIHPS BI / fallback).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6CFE923C-0EBB-4B4F-9C5D-939D4E2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9D1ADD78-FEE9-49F4-9A9F-7A8648A2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840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Step 1: rekomendasi harga + rasional (strict JSON).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AFB78AB7-9728-445B-9EF9-BB125DA3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D3F2FA65-9EA7-4473-8471-58BABD9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840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Step 2: susun urutan rute → peta rute jalan asli.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7351FD25-2BAB-46B3-9EFC-F377EB3C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7" name="bt-3">
            <a:extLst xmlns:a="http://schemas.openxmlformats.org/drawingml/2006/main">
              <a:ext uri="{FF2B5EF4-FFF2-40B4-BE49-F238E27FC236}">
                <a16:creationId xmlns:a16="http://schemas.microsoft.com/office/drawing/2014/main" id="{995123A3-6B51-41D5-A9D5-0ADAA40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40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Step 3: draft WhatsApp + tips packing.</a:t>
            </a:r>
          </a:p>
        </p:txBody>
      </p:sp>
      <p:sp>
        <p:nvSpPr>
          <p:cNvPr id="18" name="modules">
            <a:extLst xmlns:a="http://schemas.openxmlformats.org/drawingml/2006/main">
              <a:ext uri="{FF2B5EF4-FFF2-40B4-BE49-F238E27FC236}">
                <a16:creationId xmlns:a16="http://schemas.microsoft.com/office/drawing/2014/main" id="{D4D05DFF-E7E8-4B4A-92B3-1BB0C145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558" y="2876550"/>
            <a:ext cx="6817042" cy="6572250"/>
          </a:xfrm>
          <a:prstGeom xmlns:a="http://schemas.openxmlformats.org/drawingml/2006/main" prst="roundRect">
            <a:avLst>
              <a:gd name="adj" fmla="val 4058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C1EF7-9F11-4FEE-9F96-FE913960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24200"/>
            <a:ext cx="624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Modul Platform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B4914A53-0293-4922-AB40-FEBDA339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bt-0">
            <a:extLst xmlns:a="http://schemas.openxmlformats.org/drawingml/2006/main">
              <a:ext uri="{FF2B5EF4-FFF2-40B4-BE49-F238E27FC236}">
                <a16:creationId xmlns:a16="http://schemas.microsoft.com/office/drawing/2014/main" id="{17135A0E-BE0B-43CA-8191-42FE457D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0"/>
            <a:ext cx="600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Buyer: marketplace, cart, checkout, orders, chat.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FDA4AD77-3917-4F37-94CF-DBA9C14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3" name="bt-1">
            <a:extLst xmlns:a="http://schemas.openxmlformats.org/drawingml/2006/main">
              <a:ext uri="{FF2B5EF4-FFF2-40B4-BE49-F238E27FC236}">
                <a16:creationId xmlns:a16="http://schemas.microsoft.com/office/drawing/2014/main" id="{F7CAE96C-C180-4B85-81E6-882A6C82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57650"/>
            <a:ext cx="600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Seller: inventory, orders, shipments, payments, analytics.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7BA353E3-3A09-4444-9D6C-0671A47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76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5" name="bt-2">
            <a:extLst xmlns:a="http://schemas.openxmlformats.org/drawingml/2006/main">
              <a:ext uri="{FF2B5EF4-FFF2-40B4-BE49-F238E27FC236}">
                <a16:creationId xmlns:a16="http://schemas.microsoft.com/office/drawing/2014/main" id="{A8FBF860-F329-464E-8D33-D6249E8E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476750"/>
            <a:ext cx="6000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Admin: CMS, moderation, disputes, verification, audit, anomalies.</a:t>
            </a:r>
          </a:p>
        </p:txBody>
      </p:sp>
    </p:spTree>
    <p:extLst>
      <p:ext uri="{BB962C8B-B14F-4D97-AF65-F5344CB8AC3E}">
        <p14:creationId xmlns:p14="http://schemas.microsoft.com/office/powerpoint/2010/main" val="20376192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2C3AFBAA-3AA0-4CCC-AEA6-C85D5FB0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53A8B939-4B13-4A19-B4C3-86DDA532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5FBEFC0D-7624-4C66-A0BC-9BBB15B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Arsitektur">
            <a:extLst xmlns:a="http://schemas.openxmlformats.org/drawingml/2006/main">
              <a:ext uri="{FF2B5EF4-FFF2-40B4-BE49-F238E27FC236}">
                <a16:creationId xmlns:a16="http://schemas.microsoft.com/office/drawing/2014/main" id="{1E2C4CBA-6AD7-47DE-B772-CA05F0C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5562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9DA12-301F-49EC-BF68-AED74A8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5DAA3-B40B-4402-8D2C-C221209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Frontend + Backend Proxy + Supabase + Integrasi Eksternal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A9F76-D624-4D79-9659-B88B87D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8362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Proxy backend dipakai untuk keamanan API key dan konsistensi respons.</a:t>
            </a:r>
          </a:p>
        </p:txBody>
      </p:sp>
      <p:sp>
        <p:nvSpPr>
          <p:cNvPr id="8" name="node-User (Browser)">
            <a:extLst xmlns:a="http://schemas.openxmlformats.org/drawingml/2006/main">
              <a:ext uri="{FF2B5EF4-FFF2-40B4-BE49-F238E27FC236}">
                <a16:creationId xmlns:a16="http://schemas.microsoft.com/office/drawing/2014/main" id="{1E830166-C8D4-40F0-BCCD-9A5D186B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133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401D1-03C9-4006-94A4-25DEED5E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User (Browser)</a:t>
            </a:r>
          </a:p>
        </p:txBody>
      </p:sp>
      <p:sp>
        <p:nvSpPr>
          <p:cNvPr id="10" name="node-Frontend&#10;React + TS + Vite + Tailwind">
            <a:extLst xmlns:a="http://schemas.openxmlformats.org/drawingml/2006/main">
              <a:ext uri="{FF2B5EF4-FFF2-40B4-BE49-F238E27FC236}">
                <a16:creationId xmlns:a16="http://schemas.microsoft.com/office/drawing/2014/main" id="{A74DD0B6-C934-4A64-A75E-F163C61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079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9EA67-5343-4A7D-AA0C-C86402A8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496050"/>
            <a:ext cx="489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Frontend</a:t>
            </a:r>
          </a:p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React + TS + Vite + Tailwind</a:t>
            </a:r>
          </a:p>
        </p:txBody>
      </p:sp>
      <p:sp>
        <p:nvSpPr>
          <p:cNvPr id="12" name="node-Backend Proxy&#10;Node.js + Express">
            <a:extLst xmlns:a="http://schemas.openxmlformats.org/drawingml/2006/main">
              <a:ext uri="{FF2B5EF4-FFF2-40B4-BE49-F238E27FC236}">
                <a16:creationId xmlns:a16="http://schemas.microsoft.com/office/drawing/2014/main" id="{4AB57D9A-CF6A-440F-A523-34DE984A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302133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4A4B2-A4DF-460F-AF87-A23A8A1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9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Backend Proxy</a:t>
            </a:r>
          </a:p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Node.js + Express</a:t>
            </a:r>
          </a:p>
        </p:txBody>
      </p:sp>
      <p:sp>
        <p:nvSpPr>
          <p:cNvPr id="14" name="node-Supabase&#10;Auth + DB + Realtime + RLS">
            <a:extLst xmlns:a="http://schemas.openxmlformats.org/drawingml/2006/main">
              <a:ext uri="{FF2B5EF4-FFF2-40B4-BE49-F238E27FC236}">
                <a16:creationId xmlns:a16="http://schemas.microsoft.com/office/drawing/2014/main" id="{066A1C11-E840-416D-9BFE-6EC2B2F3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632079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62ECE-C910-4BDA-B104-8E0FB3B1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496050"/>
            <a:ext cx="489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Supabase</a:t>
            </a:r>
          </a:p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Auth + DB + Realtime + RLS</a:t>
            </a:r>
          </a:p>
        </p:txBody>
      </p:sp>
      <p:sp>
        <p:nvSpPr>
          <p:cNvPr id="16" name="node-Ollama Local LLM&#10;qwen2.5-coder:1.5b">
            <a:extLst xmlns:a="http://schemas.openxmlformats.org/drawingml/2006/main">
              <a:ext uri="{FF2B5EF4-FFF2-40B4-BE49-F238E27FC236}">
                <a16:creationId xmlns:a16="http://schemas.microsoft.com/office/drawing/2014/main" id="{7BABAACF-534B-490F-8A28-1F547F05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302133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FD72B-2D87-447F-B0C8-5E563C3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200400"/>
            <a:ext cx="489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Ollama Local LLM</a:t>
            </a:r>
          </a:p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qwen2.5-coder:1.5b</a:t>
            </a:r>
          </a:p>
        </p:txBody>
      </p:sp>
      <p:sp>
        <p:nvSpPr>
          <p:cNvPr id="18" name="node-PIHPS BI + Serper + Google Maps">
            <a:extLst xmlns:a="http://schemas.openxmlformats.org/drawingml/2006/main">
              <a:ext uri="{FF2B5EF4-FFF2-40B4-BE49-F238E27FC236}">
                <a16:creationId xmlns:a16="http://schemas.microsoft.com/office/drawing/2014/main" id="{92DBF904-5537-41AA-85E5-7A878A63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6320790"/>
            <a:ext cx="5321300" cy="312801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32B37-35FD-4D01-A89F-D12C8CB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49605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FDF5"/>
                </a:solidFill>
              </a:defRPr>
            </a:pPr>
            <a:r>
              <a:rPr sz="1650" b="1">
                <a:solidFill>
                  <a:srgbClr val="ECFDF5"/>
                </a:solidFill>
              </a:rPr>
              <a:t>PIHPS BI + Serper + Google Maps</a:t>
            </a:r>
          </a:p>
        </p:txBody>
      </p:sp>
      <p:sp>
        <p:nvSpPr>
          <p:cNvPr id="20" name="arrow-1">
            <a:extLst xmlns:a="http://schemas.openxmlformats.org/drawingml/2006/main">
              <a:ext uri="{FF2B5EF4-FFF2-40B4-BE49-F238E27FC236}">
                <a16:creationId xmlns:a16="http://schemas.microsoft.com/office/drawing/2014/main" id="{CD3B198D-417B-44DD-B602-A5B9861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70000"/>
            </a:srgbClr>
          </a:solidFill>
        </p:spPr>
      </p:sp>
      <p:sp>
        <p:nvSpPr>
          <p:cNvPr id="21" name="arrow-2">
            <a:extLst xmlns:a="http://schemas.openxmlformats.org/drawingml/2006/main">
              <a:ext uri="{FF2B5EF4-FFF2-40B4-BE49-F238E27FC236}">
                <a16:creationId xmlns:a16="http://schemas.microsoft.com/office/drawing/2014/main" id="{8E0A394B-34CF-46B2-B2FF-5ECCC1D7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70000"/>
            </a:srgbClr>
          </a:solidFill>
        </p:spPr>
      </p:sp>
      <p:sp>
        <p:nvSpPr>
          <p:cNvPr id="22" name="arrow-label">
            <a:extLst xmlns:a="http://schemas.openxmlformats.org/drawingml/2006/main">
              <a:ext uri="{FF2B5EF4-FFF2-40B4-BE49-F238E27FC236}">
                <a16:creationId xmlns:a16="http://schemas.microsoft.com/office/drawing/2014/main" id="{6A6B288A-8F79-4FBE-AF36-820214D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E4D1"/>
                </a:solidFill>
              </a:defRPr>
            </a:pPr>
            <a:r>
              <a:rPr sz="1350">
                <a:solidFill>
                  <a:srgbClr val="B7E4D1"/>
                </a:solidFill>
              </a:rPr>
              <a:t>API calls (VITE_API_BASE_URL)</a:t>
            </a:r>
          </a:p>
        </p:txBody>
      </p:sp>
    </p:spTree>
    <p:extLst>
      <p:ext uri="{BB962C8B-B14F-4D97-AF65-F5344CB8AC3E}">
        <p14:creationId xmlns:p14="http://schemas.microsoft.com/office/powerpoint/2010/main" val="8038390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3768BD6B-952E-4CD1-B996-89EFED40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A05C85B4-4044-4051-8E7A-627ABE55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94ACE01F-C39A-42B4-9379-788F6CE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Teknologi">
            <a:extLst xmlns:a="http://schemas.openxmlformats.org/drawingml/2006/main">
              <a:ext uri="{FF2B5EF4-FFF2-40B4-BE49-F238E27FC236}">
                <a16:creationId xmlns:a16="http://schemas.microsoft.com/office/drawing/2014/main" id="{A565DE4B-296C-49C5-A93F-5CF1D985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3733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36670-6CFD-454B-B0BE-7524FEB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Teknologi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F9CCF-C58F-4F7F-8746-EEB4730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Stack &amp; Komponen Kunci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2B3F6-72E4-4BC0-B84B-3C2CD3FF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629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Fokus: responsif, aman (proxy), dan output AI terstruktur.</a:t>
            </a:r>
          </a:p>
        </p:txBody>
      </p:sp>
      <p:sp>
        <p:nvSpPr>
          <p:cNvPr id="8" name="front">
            <a:extLst xmlns:a="http://schemas.openxmlformats.org/drawingml/2006/main">
              <a:ext uri="{FF2B5EF4-FFF2-40B4-BE49-F238E27FC236}">
                <a16:creationId xmlns:a16="http://schemas.microsoft.com/office/drawing/2014/main" id="{C2EB7586-147D-49A1-84BF-74CB587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8067675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6BF81-C103-45E7-B66E-5213AE1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54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Frontend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A864C66B-932F-4D63-AF2C-3BC581B0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9C45BA10-D4B5-4886-8B4B-6C9BEE6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React + TypeScript + Vite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CFF7BE62-B6F6-43A5-9519-542676F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58DF6D9B-30FF-4283-959F-E834E27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Tailwind CSS (responsive UI)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12DE2BB2-9ED9-45D8-89C9-20A7A3E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CB96ACAA-E429-48D0-BF0D-0A19807C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React Router (role-based routes)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D721C573-87FB-4258-8F08-C59F69A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7" name="bt-3">
            <a:extLst xmlns:a="http://schemas.openxmlformats.org/drawingml/2006/main">
              <a:ext uri="{FF2B5EF4-FFF2-40B4-BE49-F238E27FC236}">
                <a16:creationId xmlns:a16="http://schemas.microsoft.com/office/drawing/2014/main" id="{8732DB98-D12D-480B-AC06-E1C5B77B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Google Maps JS (Directions)</a:t>
            </a:r>
          </a:p>
        </p:txBody>
      </p:sp>
      <p:sp>
        <p:nvSpPr>
          <p:cNvPr id="18" name="back">
            <a:extLst xmlns:a="http://schemas.openxmlformats.org/drawingml/2006/main">
              <a:ext uri="{FF2B5EF4-FFF2-40B4-BE49-F238E27FC236}">
                <a16:creationId xmlns:a16="http://schemas.microsoft.com/office/drawing/2014/main" id="{C199AD24-6A6F-44EA-9675-CAC88DEB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38450"/>
            <a:ext cx="8067675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749BB-86C2-4D0E-AC72-B92F445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86100"/>
            <a:ext cx="754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Backend &amp; Data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082A5694-7CE1-42AB-A0FE-208C116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bt-0">
            <a:extLst xmlns:a="http://schemas.openxmlformats.org/drawingml/2006/main">
              <a:ext uri="{FF2B5EF4-FFF2-40B4-BE49-F238E27FC236}">
                <a16:creationId xmlns:a16="http://schemas.microsoft.com/office/drawing/2014/main" id="{864D04D5-6EEC-43F6-81D6-B05BCE7C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Express proxy: /api/ai/chat, /api/search, /api/market/pihps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38EBF2F5-8E32-44C2-93AD-1081B13A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3" name="bt-1">
            <a:extLst xmlns:a="http://schemas.openxmlformats.org/drawingml/2006/main">
              <a:ext uri="{FF2B5EF4-FFF2-40B4-BE49-F238E27FC236}">
                <a16:creationId xmlns:a16="http://schemas.microsoft.com/office/drawing/2014/main" id="{AA60BA02-0EB0-4725-9726-E425C516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624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Supabase: Auth + DB + Realtime + RLS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86F03834-0D1B-4489-B7A9-6655CA8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5" name="bt-2">
            <a:extLst xmlns:a="http://schemas.openxmlformats.org/drawingml/2006/main">
              <a:ext uri="{FF2B5EF4-FFF2-40B4-BE49-F238E27FC236}">
                <a16:creationId xmlns:a16="http://schemas.microsoft.com/office/drawing/2014/main" id="{2D37D024-0BF5-4726-A7E0-699A0680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Ollama local LLM (hemat biaya &amp; privasi)</a:t>
            </a:r>
          </a:p>
        </p:txBody>
      </p:sp>
    </p:spTree>
    <p:extLst>
      <p:ext uri="{BB962C8B-B14F-4D97-AF65-F5344CB8AC3E}">
        <p14:creationId xmlns:p14="http://schemas.microsoft.com/office/powerpoint/2010/main" val="11778301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DEB3DF96-1133-4846-A67D-446C0D3C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ED0DAEAC-754C-416B-BC27-F259C90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55CE0DE5-D295-4BC9-93E5-E56B4B20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API">
            <a:extLst xmlns:a="http://schemas.openxmlformats.org/drawingml/2006/main">
              <a:ext uri="{FF2B5EF4-FFF2-40B4-BE49-F238E27FC236}">
                <a16:creationId xmlns:a16="http://schemas.microsoft.com/office/drawing/2014/main" id="{C24F79DC-E2E9-45BD-AC02-AC0DB26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3733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B263-4181-4559-8596-37937E2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79723-95EF-4A42-B4A2-78A2FB0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Endpoint Utama (Backend Proxy)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6D711-9712-4E45-A5E5-6EEB872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788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Backend menjaga kunci API tetap di server &amp; menormalkan respons.</a:t>
            </a:r>
          </a:p>
        </p:txBody>
      </p:sp>
      <p:sp>
        <p:nvSpPr>
          <p:cNvPr id="8" name="endpoints">
            <a:extLst xmlns:a="http://schemas.openxmlformats.org/drawingml/2006/main">
              <a:ext uri="{FF2B5EF4-FFF2-40B4-BE49-F238E27FC236}">
                <a16:creationId xmlns:a16="http://schemas.microsoft.com/office/drawing/2014/main" id="{1474440C-3B63-4D62-A4CA-9F25EC3A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8843010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71797-076D-4250-A230-6D9351B8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Core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22531CA-9101-4824-85AC-C1C73A3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E1279600-257E-4D71-AE5E-624796C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GET /api/ping (health check)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B2759ACA-AB9B-454A-9370-CDBACB9B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6665FEF7-CABB-4671-B374-0CDDE3D8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POST /api/ai/chat (LLM: Ollama/OpenRouter)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F7E2FE1A-B2F3-4DB7-BA0B-30570DD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6616A35A-2B25-4AD9-A707-7D0CB7AE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GET /api/market/pihps?q=... (harga PIHPS BI)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BD22C-B39A-4324-A387-C9D9553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52DC6-0FC4-4CDD-8730-E163BF59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Support</a:t>
            </a:r>
          </a:p>
        </p:txBody>
      </p:sp>
      <p:sp>
        <p:nvSpPr>
          <p:cNvPr id="18" name="dot-0">
            <a:extLst xmlns:a="http://schemas.openxmlformats.org/drawingml/2006/main">
              <a:ext uri="{FF2B5EF4-FFF2-40B4-BE49-F238E27FC236}">
                <a16:creationId xmlns:a16="http://schemas.microsoft.com/office/drawing/2014/main" id="{7A8E5898-7B6A-4D47-9CD2-BC6C6299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9" name="bt-0">
            <a:extLst xmlns:a="http://schemas.openxmlformats.org/drawingml/2006/main">
              <a:ext uri="{FF2B5EF4-FFF2-40B4-BE49-F238E27FC236}">
                <a16:creationId xmlns:a16="http://schemas.microsoft.com/office/drawing/2014/main" id="{24D4C16F-E960-49D5-B224-607A2ED7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POST /api/search, /api/search/images (Serper)</a:t>
            </a:r>
          </a:p>
        </p:txBody>
      </p:sp>
      <p:sp>
        <p:nvSpPr>
          <p:cNvPr id="20" name="dot-1">
            <a:extLst xmlns:a="http://schemas.openxmlformats.org/drawingml/2006/main">
              <a:ext uri="{FF2B5EF4-FFF2-40B4-BE49-F238E27FC236}">
                <a16:creationId xmlns:a16="http://schemas.microsoft.com/office/drawing/2014/main" id="{15C4A5A8-BD82-4036-B02D-52E8DC4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bt-1">
            <a:extLst xmlns:a="http://schemas.openxmlformats.org/drawingml/2006/main">
              <a:ext uri="{FF2B5EF4-FFF2-40B4-BE49-F238E27FC236}">
                <a16:creationId xmlns:a16="http://schemas.microsoft.com/office/drawing/2014/main" id="{44FB3E08-BC30-463A-9F1B-256D010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GET /api/geocode?q=... (Google Geocode)</a:t>
            </a:r>
          </a:p>
        </p:txBody>
      </p:sp>
      <p:sp>
        <p:nvSpPr>
          <p:cNvPr id="22" name="notes">
            <a:extLst xmlns:a="http://schemas.openxmlformats.org/drawingml/2006/main">
              <a:ext uri="{FF2B5EF4-FFF2-40B4-BE49-F238E27FC236}">
                <a16:creationId xmlns:a16="http://schemas.microsoft.com/office/drawing/2014/main" id="{0B25AB26-7998-4526-9B20-F0B9455C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2838450"/>
            <a:ext cx="7235190" cy="6610350"/>
          </a:xfrm>
          <a:prstGeom xmlns:a="http://schemas.openxmlformats.org/drawingml/2006/main" prst="roundRect">
            <a:avLst>
              <a:gd name="adj" fmla="val 3746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7F252-325F-423C-9A0F-ABD2BFB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86100"/>
            <a:ext cx="670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Catatan Stabilitas</a:t>
            </a:r>
          </a:p>
        </p:txBody>
      </p:sp>
      <p:sp>
        <p:nvSpPr>
          <p:cNvPr id="24" name="dot-0">
            <a:extLst xmlns:a="http://schemas.openxmlformats.org/drawingml/2006/main">
              <a:ext uri="{FF2B5EF4-FFF2-40B4-BE49-F238E27FC236}">
                <a16:creationId xmlns:a16="http://schemas.microsoft.com/office/drawing/2014/main" id="{EA8288D2-B4C8-4B9D-AD2A-87C5CB16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24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5" name="bt-0">
            <a:extLst xmlns:a="http://schemas.openxmlformats.org/drawingml/2006/main">
              <a:ext uri="{FF2B5EF4-FFF2-40B4-BE49-F238E27FC236}">
                <a16:creationId xmlns:a16="http://schemas.microsoft.com/office/drawing/2014/main" id="{53CD479F-2AFC-4738-9A23-2201383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2425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Strict JSON mode + JSON repair untuk output LLM.</a:t>
            </a:r>
          </a:p>
        </p:txBody>
      </p:sp>
      <p:sp>
        <p:nvSpPr>
          <p:cNvPr id="26" name="dot-1">
            <a:extLst xmlns:a="http://schemas.openxmlformats.org/drawingml/2006/main">
              <a:ext uri="{FF2B5EF4-FFF2-40B4-BE49-F238E27FC236}">
                <a16:creationId xmlns:a16="http://schemas.microsoft.com/office/drawing/2014/main" id="{16313B56-69AE-44A7-B777-1F6285A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7" name="bt-1">
            <a:extLst xmlns:a="http://schemas.openxmlformats.org/drawingml/2006/main">
              <a:ext uri="{FF2B5EF4-FFF2-40B4-BE49-F238E27FC236}">
                <a16:creationId xmlns:a16="http://schemas.microsoft.com/office/drawing/2014/main" id="{4B34B659-7110-4C75-87AB-5A4AFCB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4335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Domain trust scoring untuk memilih sumber harga.</a:t>
            </a:r>
          </a:p>
        </p:txBody>
      </p:sp>
      <p:sp>
        <p:nvSpPr>
          <p:cNvPr id="28" name="dot-2">
            <a:extLst xmlns:a="http://schemas.openxmlformats.org/drawingml/2006/main">
              <a:ext uri="{FF2B5EF4-FFF2-40B4-BE49-F238E27FC236}">
                <a16:creationId xmlns:a16="http://schemas.microsoft.com/office/drawing/2014/main" id="{FA0CBFD9-C942-4CB9-B7DF-C8B1A8A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9" name="bt-2">
            <a:extLst xmlns:a="http://schemas.openxmlformats.org/drawingml/2006/main">
              <a:ext uri="{FF2B5EF4-FFF2-40B4-BE49-F238E27FC236}">
                <a16:creationId xmlns:a16="http://schemas.microsoft.com/office/drawing/2014/main" id="{5D27E4AE-8369-4B8E-9FD1-2BC8E858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8150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Fallback berlapis: PIHPS → Serper → LLM.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CD177-5479-41BF-9435-DD8283D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00600"/>
            <a:ext cx="670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E4D1"/>
                </a:solidFill>
              </a:defRPr>
            </a:pPr>
            <a:r>
              <a:rPr sz="1350">
                <a:solidFill>
                  <a:srgbClr val="B7E4D1"/>
                </a:solidFill>
              </a:rPr>
              <a:t>Target: demo 2–5 menit tanpa crash/blank screen.</a:t>
            </a:r>
          </a:p>
        </p:txBody>
      </p:sp>
    </p:spTree>
    <p:extLst>
      <p:ext uri="{BB962C8B-B14F-4D97-AF65-F5344CB8AC3E}">
        <p14:creationId xmlns:p14="http://schemas.microsoft.com/office/powerpoint/2010/main" val="1253444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179F7B96-19A2-4753-9DFD-147B21ED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BC86CF90-CB91-47DB-997A-FACC3A51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579A9FB7-E02A-4639-92A7-9711A7A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Demo">
            <a:extLst xmlns:a="http://schemas.openxmlformats.org/drawingml/2006/main">
              <a:ext uri="{FF2B5EF4-FFF2-40B4-BE49-F238E27FC236}">
                <a16:creationId xmlns:a16="http://schemas.microsoft.com/office/drawing/2014/main" id="{933D8C58-7302-42B7-9875-F65A9703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5562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C9F64-E10E-45D2-B789-4B999F1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34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3A1F3-5309-46AC-8D58-FF80C803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6459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CFDF5"/>
                </a:solidFill>
              </a:defRPr>
            </a:pPr>
            <a:r>
              <a:rPr sz="3300" b="1">
                <a:solidFill>
                  <a:srgbClr val="ECFDF5"/>
                </a:solidFill>
              </a:rPr>
              <a:t>Alur Demo (2–5 Menit)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01253-3AA7-43CA-8C5D-22A18E6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353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Tunjukkan seller → publish → buyer → admin.</a:t>
            </a:r>
          </a:p>
        </p:txBody>
      </p:sp>
      <p:sp>
        <p:nvSpPr>
          <p:cNvPr id="8" name="script">
            <a:extLst xmlns:a="http://schemas.openxmlformats.org/drawingml/2006/main">
              <a:ext uri="{FF2B5EF4-FFF2-40B4-BE49-F238E27FC236}">
                <a16:creationId xmlns:a16="http://schemas.microsoft.com/office/drawing/2014/main" id="{AF18FCF4-3605-443D-908B-B53A8FF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1330"/>
            <a:ext cx="8067675" cy="6427470"/>
          </a:xfrm>
          <a:prstGeom xmlns:a="http://schemas.openxmlformats.org/drawingml/2006/main" prst="roundRect">
            <a:avLst>
              <a:gd name="adj" fmla="val 3853"/>
            </a:avLst>
          </a:prstGeom>
          <a:solidFill xmlns:a="http://schemas.openxmlformats.org/drawingml/2006/main">
            <a:srgbClr val="0D463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0EEB9-AD62-49AF-8C61-1B605FA2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754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Script singkat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1381EE79-4C35-4DB9-9E79-D3EBEE34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1" name="bt-0">
            <a:extLst xmlns:a="http://schemas.openxmlformats.org/drawingml/2006/main">
              <a:ext uri="{FF2B5EF4-FFF2-40B4-BE49-F238E27FC236}">
                <a16:creationId xmlns:a16="http://schemas.microsoft.com/office/drawing/2014/main" id="{4C5C212E-7579-4ED8-A9DE-F25CEF2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7296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Seller: isi komoditas → klik ANALISIS → tunjukkan harga + rute + outreach.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B48CB559-A6DD-4DEA-8400-E74412D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3" name="bt-1">
            <a:extLst xmlns:a="http://schemas.openxmlformats.org/drawingml/2006/main">
              <a:ext uri="{FF2B5EF4-FFF2-40B4-BE49-F238E27FC236}">
                <a16:creationId xmlns:a16="http://schemas.microsoft.com/office/drawing/2014/main" id="{61D49755-FCB1-439B-BB23-8C61483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Publish ke marketplace.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E6CA431B-278D-491A-BB4B-3D7FF042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bt-2">
            <a:extLst xmlns:a="http://schemas.openxmlformats.org/drawingml/2006/main">
              <a:ext uri="{FF2B5EF4-FFF2-40B4-BE49-F238E27FC236}">
                <a16:creationId xmlns:a16="http://schemas.microsoft.com/office/drawing/2014/main" id="{2EC44A07-0BD6-4808-AB70-B2DB2605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Buyer: lihat produk muncul → cart/checkout singkat.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4AD8EDA9-0093-43E2-8D0C-5D4AA0F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7" name="bt-3">
            <a:extLst xmlns:a="http://schemas.openxmlformats.org/drawingml/2006/main">
              <a:ext uri="{FF2B5EF4-FFF2-40B4-BE49-F238E27FC236}">
                <a16:creationId xmlns:a16="http://schemas.microsoft.com/office/drawing/2014/main" id="{279EFC88-2382-4B7C-BFCE-87A7512F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Admin: buka /admin → tunjukkan tab + logout.</a:t>
            </a:r>
          </a:p>
        </p:txBody>
      </p:sp>
      <p:sp>
        <p:nvSpPr>
          <p:cNvPr id="18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72A3F944-69E7-464B-9D17-81C0DA3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21330"/>
            <a:ext cx="8067675" cy="6427470"/>
          </a:xfrm>
          <a:prstGeom xmlns:a="http://schemas.openxmlformats.org/drawingml/2006/main" prst="roundRect">
            <a:avLst>
              <a:gd name="adj" fmla="val 3853"/>
            </a:avLst>
          </a:prstGeom>
          <a:solidFill xmlns:a="http://schemas.openxmlformats.org/drawingml/2006/main">
            <a:srgbClr val="FFFFFF">
              <a:alpha val="6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C5349-633A-4724-A7BB-C0F6D861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76600"/>
            <a:ext cx="754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Output submission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53ED394B-AFB9-4DB1-939F-13987EA9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bt-0">
            <a:extLst xmlns:a="http://schemas.openxmlformats.org/drawingml/2006/main">
              <a:ext uri="{FF2B5EF4-FFF2-40B4-BE49-F238E27FC236}">
                <a16:creationId xmlns:a16="http://schemas.microsoft.com/office/drawing/2014/main" id="{CEBBD306-36D3-4624-9126-2625680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Source code + screenshot (arsitektur, UI, proof integration).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D6132D17-993F-4873-A737-EE7F603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3" name="bt-1">
            <a:extLst xmlns:a="http://schemas.openxmlformats.org/drawingml/2006/main">
              <a:ext uri="{FF2B5EF4-FFF2-40B4-BE49-F238E27FC236}">
                <a16:creationId xmlns:a16="http://schemas.microsoft.com/office/drawing/2014/main" id="{39551F2F-FFF1-45A1-8FF1-0D5278BB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52900"/>
            <a:ext cx="7296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FDF5"/>
                </a:solidFill>
              </a:defRPr>
            </a:pPr>
            <a:r>
              <a:rPr sz="1950">
                <a:solidFill>
                  <a:srgbClr val="ECFDF5"/>
                </a:solidFill>
              </a:rPr>
              <a:t>Pitching deck (PDF) + video demo 2–5 menit.</a:t>
            </a:r>
          </a:p>
        </p:txBody>
      </p:sp>
    </p:spTree>
    <p:extLst>
      <p:ext uri="{BB962C8B-B14F-4D97-AF65-F5344CB8AC3E}">
        <p14:creationId xmlns:p14="http://schemas.microsoft.com/office/powerpoint/2010/main" val="18022678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solid">
            <a:extLst xmlns:a="http://schemas.openxmlformats.org/drawingml/2006/main">
              <a:ext uri="{FF2B5EF4-FFF2-40B4-BE49-F238E27FC236}">
                <a16:creationId xmlns:a16="http://schemas.microsoft.com/office/drawing/2014/main" id="{00550389-B0B0-4D7D-A416-DFD00F8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4"/>
          </a:solidFill>
        </p:spPr>
      </p:sp>
      <p:sp>
        <p:nvSpPr>
          <p:cNvPr id="2" name="bg-glow-1">
            <a:extLst xmlns:a="http://schemas.openxmlformats.org/drawingml/2006/main">
              <a:ext uri="{FF2B5EF4-FFF2-40B4-BE49-F238E27FC236}">
                <a16:creationId xmlns:a16="http://schemas.microsoft.com/office/drawing/2014/main" id="{89122EAA-F882-4743-ACAB-A8FF5C8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933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22000"/>
            </a:srgbClr>
          </a:solidFill>
        </p:spPr>
      </p:sp>
      <p:sp>
        <p:nvSpPr>
          <p:cNvPr id="3" name="bg-glow-2">
            <a:extLst xmlns:a="http://schemas.openxmlformats.org/drawingml/2006/main">
              <a:ext uri="{FF2B5EF4-FFF2-40B4-BE49-F238E27FC236}">
                <a16:creationId xmlns:a16="http://schemas.microsoft.com/office/drawing/2014/main" id="{C3A39249-CF95-46BF-998C-59831443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819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6000"/>
            </a:srgbClr>
          </a:solidFill>
        </p:spPr>
      </p:sp>
      <p:sp>
        <p:nvSpPr>
          <p:cNvPr id="4" name="pill-Terima kasih">
            <a:extLst xmlns:a="http://schemas.openxmlformats.org/drawingml/2006/main">
              <a:ext uri="{FF2B5EF4-FFF2-40B4-BE49-F238E27FC236}">
                <a16:creationId xmlns:a16="http://schemas.microsoft.com/office/drawing/2014/main" id="{CB33022D-494B-46C5-AA46-11D867DB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9518"/>
            <a:ext cx="16002000" cy="5562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27195-AD27-4E63-A59E-194C3C4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800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2019"/>
                </a:solidFill>
              </a:defRPr>
            </a:pPr>
            <a:r>
              <a:rPr sz="1200" b="1">
                <a:solidFill>
                  <a:srgbClr val="052019"/>
                </a:solidFill>
              </a:rPr>
              <a:t>Terima kasih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CE525-353E-4612-97A3-D3562C2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1600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CFDF5"/>
                </a:solidFill>
              </a:defRPr>
            </a:pPr>
            <a:r>
              <a:rPr sz="5100" b="1">
                <a:solidFill>
                  <a:srgbClr val="ECFDF5"/>
                </a:solidFill>
              </a:rPr>
              <a:t>DirectRoute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2F815-FC20-4250-837E-3A68C86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05450"/>
            <a:ext cx="952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7E4D1"/>
                </a:solidFill>
              </a:defRPr>
            </a:pPr>
            <a:r>
              <a:rPr sz="2250">
                <a:solidFill>
                  <a:srgbClr val="B7E4D1"/>
                </a:solidFill>
              </a:rPr>
              <a:t>Agentic workflow untuk mempercepat keputusan UMKM: harga • rute • outreach.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C6008-3F97-4F8C-802A-D5C9DA7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579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1AD89-5954-4571-ACDF-C6832AE8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1600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E4D1"/>
                </a:solidFill>
              </a:defRPr>
            </a:pPr>
            <a:r>
              <a:rPr sz="1350">
                <a:solidFill>
                  <a:srgbClr val="B7E4D1"/>
                </a:solidFill>
              </a:rPr>
              <a:t>Demo siap: Seller → Buyer → Admin</a:t>
            </a:r>
          </a:p>
        </p:txBody>
      </p:sp>
    </p:spTree>
    <p:extLst>
      <p:ext uri="{BB962C8B-B14F-4D97-AF65-F5344CB8AC3E}">
        <p14:creationId xmlns:p14="http://schemas.microsoft.com/office/powerpoint/2010/main" val="304637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2026-05-04T05:17:46.7630000Z</dcterms:created>
  <dcterms:modified xsi:type="dcterms:W3CDTF">2026-05-04T05:17:46.7630000Z</dcterms:modified>
</coreProperties>
</file>